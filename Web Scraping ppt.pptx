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60" r:id="rId3"/>
    <p:sldId id="261" r:id="rId4"/>
    <p:sldId id="263" r:id="rId5"/>
    <p:sldId id="262" r:id="rId6"/>
    <p:sldId id="264" r:id="rId7"/>
    <p:sldId id="266" r:id="rId8"/>
    <p:sldId id="265" r:id="rId9"/>
    <p:sldId id="267" r:id="rId10"/>
    <p:sldId id="268" r:id="rId11"/>
    <p:sldId id="269" r:id="rId12"/>
    <p:sldId id="271" r:id="rId13"/>
    <p:sldId id="272" r:id="rId14"/>
    <p:sldId id="274" r:id="rId15"/>
    <p:sldId id="276" r:id="rId16"/>
    <p:sldId id="259" r:id="rId17"/>
  </p:sldIdLst>
  <p:sldSz cx="12192000" cy="6858000"/>
  <p:notesSz cx="6858000" cy="9144000"/>
  <p:embeddedFontLst>
    <p:embeddedFont>
      <p:font typeface="Arial Black" panose="020B0A04020102020204" pitchFamily="34" charset="0"/>
      <p:bold r:id="rId19"/>
    </p:embeddedFont>
    <p:embeddedFont>
      <p:font typeface="Libre Baskerville" panose="02000000000000000000" pitchFamily="2"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06817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6446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0442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5908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magicbricks.com/property-for-sale/residential-real-estate?"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hemeOverride" Target="../theme/themeOverride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81951"/>
            <a:ext cx="12190815" cy="6694098"/>
          </a:xfrm>
          <a:prstGeom prst="rect">
            <a:avLst/>
          </a:prstGeom>
          <a:noFill/>
          <a:ln>
            <a:noFill/>
          </a:ln>
        </p:spPr>
      </p:pic>
      <p:sp>
        <p:nvSpPr>
          <p:cNvPr id="99" name="Google Shape;99;p1"/>
          <p:cNvSpPr txBox="1"/>
          <p:nvPr/>
        </p:nvSpPr>
        <p:spPr>
          <a:xfrm>
            <a:off x="2296324" y="3754267"/>
            <a:ext cx="8174735" cy="461624"/>
          </a:xfrm>
          <a:prstGeom prst="rect">
            <a:avLst/>
          </a:prstGeom>
          <a:noFill/>
          <a:ln>
            <a:noFill/>
          </a:ln>
          <a:effectLst>
            <a:outerShdw blurRad="50800" dist="38100" dir="16200000" rotWithShape="0">
              <a:prstClr val="black">
                <a:alpha val="40000"/>
              </a:prstClr>
            </a:outerShdw>
          </a:effectLst>
        </p:spPr>
        <p:style>
          <a:lnRef idx="0">
            <a:scrgbClr r="0" g="0" b="0"/>
          </a:lnRef>
          <a:fillRef idx="1003">
            <a:schemeClr val="lt2"/>
          </a:fillRef>
          <a:effectRef idx="0">
            <a:scrgbClr r="0" g="0" b="0"/>
          </a:effectRef>
          <a:fontRef idx="major"/>
        </p:style>
        <p:txBody>
          <a:bodyPr spcFirstLastPara="1" wrap="square" lIns="91425" tIns="45700" rIns="91425" bIns="45700" anchor="t" anchorCtr="0">
            <a:spAutoFit/>
          </a:bodyPr>
          <a:lstStyle/>
          <a:p>
            <a:pPr lvl="0" algn="ctr">
              <a:buSzPts val="1800"/>
            </a:pPr>
            <a:r>
              <a:rPr lang="en-US" sz="2400" b="1" dirty="0">
                <a:latin typeface="Times New Roman" panose="02020603050405020304" pitchFamily="18" charset="0"/>
                <a:cs typeface="Times New Roman" panose="02020603050405020304" pitchFamily="18" charset="0"/>
              </a:rPr>
              <a:t>Real Estate Data Analysis using Web Scraping &amp; EDA</a:t>
            </a:r>
            <a:endParaRPr lang="en-IN" sz="2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4982201" y="4345269"/>
            <a:ext cx="372918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Name: </a:t>
            </a:r>
            <a:r>
              <a:rPr lang="en-US" sz="2000" dirty="0">
                <a:latin typeface="Times New Roman" panose="02020603050405020304" pitchFamily="18" charset="0"/>
                <a:cs typeface="Times New Roman" panose="02020603050405020304" pitchFamily="18" charset="0"/>
              </a:rPr>
              <a:t>T</a:t>
            </a:r>
            <a:r>
              <a:rPr lang="en-IN" sz="2000" dirty="0" err="1">
                <a:latin typeface="Times New Roman" panose="02020603050405020304" pitchFamily="18" charset="0"/>
                <a:cs typeface="Times New Roman" panose="02020603050405020304" pitchFamily="18" charset="0"/>
              </a:rPr>
              <a:t>ippaluri</a:t>
            </a:r>
            <a:r>
              <a:rPr lang="en-IN" sz="2000" dirty="0">
                <a:latin typeface="Times New Roman" panose="02020603050405020304" pitchFamily="18" charset="0"/>
                <a:cs typeface="Times New Roman" panose="02020603050405020304" pitchFamily="18" charset="0"/>
              </a:rPr>
              <a:t> Srinu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73101"/>
            <a:ext cx="8266176" cy="750443"/>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What is Web Scraping ? How it works ?</a:t>
            </a:r>
          </a:p>
        </p:txBody>
      </p:sp>
      <p:sp>
        <p:nvSpPr>
          <p:cNvPr id="3" name="Text Placeholder 2"/>
          <p:cNvSpPr>
            <a:spLocks noGrp="1"/>
          </p:cNvSpPr>
          <p:nvPr>
            <p:ph type="body" idx="1"/>
          </p:nvPr>
        </p:nvSpPr>
        <p:spPr>
          <a:xfrm>
            <a:off x="838200" y="1197864"/>
            <a:ext cx="10744200" cy="4979099"/>
          </a:xfrm>
        </p:spPr>
        <p:txBody>
          <a:bodyPr>
            <a:normAutofit/>
          </a:bodyPr>
          <a:lstStyle/>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Web Scraping</a:t>
            </a:r>
            <a:r>
              <a:rPr lang="en-US" sz="2400" dirty="0">
                <a:latin typeface="Times New Roman" panose="02020603050405020304" pitchFamily="18" charset="0"/>
                <a:cs typeface="Times New Roman" panose="02020603050405020304" pitchFamily="18" charset="0"/>
              </a:rPr>
              <a:t> is the process of automatically extracting data from websites using software or scripts.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Instead of manually copying information, scraping tools: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large volumes of data</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 unstructured web data into structured formats like CSV</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automated data analysis</a:t>
            </a:r>
          </a:p>
          <a:p>
            <a:pPr marL="571500" lvl="1" indent="0">
              <a:buNone/>
            </a:pPr>
            <a:endParaRPr lang="en-US" sz="2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Process Flow:</a:t>
            </a:r>
            <a:br>
              <a:rPr lang="en-IN"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81ECAD89-C9C5-8F7A-4DD4-DC1BEB111439}"/>
              </a:ext>
            </a:extLst>
          </p:cNvPr>
          <p:cNvSpPr/>
          <p:nvPr/>
        </p:nvSpPr>
        <p:spPr>
          <a:xfrm>
            <a:off x="1443692" y="4819263"/>
            <a:ext cx="1838666" cy="6882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Request Webpage</a:t>
            </a:r>
            <a:endParaRPr lang="en-IN" sz="1600" dirty="0"/>
          </a:p>
        </p:txBody>
      </p:sp>
      <p:sp>
        <p:nvSpPr>
          <p:cNvPr id="7" name="Rectangle 6">
            <a:extLst>
              <a:ext uri="{FF2B5EF4-FFF2-40B4-BE49-F238E27FC236}">
                <a16:creationId xmlns:a16="http://schemas.microsoft.com/office/drawing/2014/main" id="{EBFA0603-DE72-C850-FF00-912D73B8069E}"/>
              </a:ext>
            </a:extLst>
          </p:cNvPr>
          <p:cNvSpPr/>
          <p:nvPr/>
        </p:nvSpPr>
        <p:spPr>
          <a:xfrm>
            <a:off x="3812473" y="4804208"/>
            <a:ext cx="1676400" cy="703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Download HTML</a:t>
            </a:r>
            <a:endParaRPr lang="en-IN" sz="1600" dirty="0"/>
          </a:p>
        </p:txBody>
      </p:sp>
      <p:sp>
        <p:nvSpPr>
          <p:cNvPr id="8" name="Rectangle 7">
            <a:extLst>
              <a:ext uri="{FF2B5EF4-FFF2-40B4-BE49-F238E27FC236}">
                <a16:creationId xmlns:a16="http://schemas.microsoft.com/office/drawing/2014/main" id="{AB62C0D4-9D4C-8E88-5EDD-B6CF1BDCA610}"/>
              </a:ext>
            </a:extLst>
          </p:cNvPr>
          <p:cNvSpPr/>
          <p:nvPr/>
        </p:nvSpPr>
        <p:spPr>
          <a:xfrm>
            <a:off x="6017367" y="4804208"/>
            <a:ext cx="2035277" cy="6882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Extract Required Data</a:t>
            </a:r>
            <a:endParaRPr lang="en-IN" sz="1600" dirty="0"/>
          </a:p>
        </p:txBody>
      </p:sp>
      <p:sp>
        <p:nvSpPr>
          <p:cNvPr id="9" name="Rectangle 8">
            <a:extLst>
              <a:ext uri="{FF2B5EF4-FFF2-40B4-BE49-F238E27FC236}">
                <a16:creationId xmlns:a16="http://schemas.microsoft.com/office/drawing/2014/main" id="{0724DE80-88EE-0615-FF1E-32DE9FFED586}"/>
              </a:ext>
            </a:extLst>
          </p:cNvPr>
          <p:cNvSpPr/>
          <p:nvPr/>
        </p:nvSpPr>
        <p:spPr>
          <a:xfrm>
            <a:off x="8571272" y="4781628"/>
            <a:ext cx="1066799" cy="7033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Store Data</a:t>
            </a:r>
            <a:endParaRPr lang="en-IN" sz="1600" dirty="0"/>
          </a:p>
        </p:txBody>
      </p:sp>
      <p:sp>
        <p:nvSpPr>
          <p:cNvPr id="10" name="Rectangle 9">
            <a:extLst>
              <a:ext uri="{FF2B5EF4-FFF2-40B4-BE49-F238E27FC236}">
                <a16:creationId xmlns:a16="http://schemas.microsoft.com/office/drawing/2014/main" id="{5887444B-40B9-B315-5B0C-AE79955550CC}"/>
              </a:ext>
            </a:extLst>
          </p:cNvPr>
          <p:cNvSpPr/>
          <p:nvPr/>
        </p:nvSpPr>
        <p:spPr>
          <a:xfrm>
            <a:off x="10148522" y="4804208"/>
            <a:ext cx="1499868" cy="6807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Data</a:t>
            </a:r>
            <a:endParaRPr lang="en-IN" sz="1600" dirty="0"/>
          </a:p>
        </p:txBody>
      </p:sp>
      <p:sp>
        <p:nvSpPr>
          <p:cNvPr id="14" name="Arrow: Right 13">
            <a:extLst>
              <a:ext uri="{FF2B5EF4-FFF2-40B4-BE49-F238E27FC236}">
                <a16:creationId xmlns:a16="http://schemas.microsoft.com/office/drawing/2014/main" id="{0F997E0D-41DF-5FB5-ED44-D26A96DC3805}"/>
              </a:ext>
            </a:extLst>
          </p:cNvPr>
          <p:cNvSpPr/>
          <p:nvPr/>
        </p:nvSpPr>
        <p:spPr>
          <a:xfrm>
            <a:off x="5568956" y="5028773"/>
            <a:ext cx="358462" cy="24957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Arrow: Right 14">
            <a:extLst>
              <a:ext uri="{FF2B5EF4-FFF2-40B4-BE49-F238E27FC236}">
                <a16:creationId xmlns:a16="http://schemas.microsoft.com/office/drawing/2014/main" id="{2DBAC7D6-B512-5D90-E261-0B2B76C2C353}"/>
              </a:ext>
            </a:extLst>
          </p:cNvPr>
          <p:cNvSpPr/>
          <p:nvPr/>
        </p:nvSpPr>
        <p:spPr>
          <a:xfrm>
            <a:off x="8130693" y="5028773"/>
            <a:ext cx="358462" cy="24957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Arrow: Right 15">
            <a:extLst>
              <a:ext uri="{FF2B5EF4-FFF2-40B4-BE49-F238E27FC236}">
                <a16:creationId xmlns:a16="http://schemas.microsoft.com/office/drawing/2014/main" id="{DAACCD50-236F-3D8D-6507-503C7C740FC5}"/>
              </a:ext>
            </a:extLst>
          </p:cNvPr>
          <p:cNvSpPr/>
          <p:nvPr/>
        </p:nvSpPr>
        <p:spPr>
          <a:xfrm>
            <a:off x="9715272" y="5019787"/>
            <a:ext cx="358462" cy="24957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Arrow: Right 16">
            <a:extLst>
              <a:ext uri="{FF2B5EF4-FFF2-40B4-BE49-F238E27FC236}">
                <a16:creationId xmlns:a16="http://schemas.microsoft.com/office/drawing/2014/main" id="{C81B8E34-5875-9CEB-5AC0-4FAF9C16A735}"/>
              </a:ext>
            </a:extLst>
          </p:cNvPr>
          <p:cNvSpPr/>
          <p:nvPr/>
        </p:nvSpPr>
        <p:spPr>
          <a:xfrm>
            <a:off x="3388021" y="5034843"/>
            <a:ext cx="358462" cy="24957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18011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397"/>
            <a:ext cx="10515600" cy="69557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Objective</a:t>
            </a:r>
          </a:p>
        </p:txBody>
      </p:sp>
      <p:sp>
        <p:nvSpPr>
          <p:cNvPr id="3" name="Text Placeholder 2"/>
          <p:cNvSpPr>
            <a:spLocks noGrp="1"/>
          </p:cNvSpPr>
          <p:nvPr>
            <p:ph type="body" idx="1"/>
          </p:nvPr>
        </p:nvSpPr>
        <p:spPr>
          <a:xfrm>
            <a:off x="764360" y="1164306"/>
            <a:ext cx="10207752" cy="4721479"/>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extract real estate property data using web scraping</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automate multi-page data collection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clean and preprocess unstructured data</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perform Exploratory Data Analysis (EDA)</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analyze pricing patterns and market trends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visualize insights using Python</a:t>
            </a:r>
          </a:p>
        </p:txBody>
      </p:sp>
    </p:spTree>
    <p:extLst>
      <p:ext uri="{BB962C8B-B14F-4D97-AF65-F5344CB8AC3E}">
        <p14:creationId xmlns:p14="http://schemas.microsoft.com/office/powerpoint/2010/main" val="129674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821"/>
            <a:ext cx="3633216" cy="549275"/>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Website</a:t>
            </a:r>
          </a:p>
        </p:txBody>
      </p:sp>
      <p:sp>
        <p:nvSpPr>
          <p:cNvPr id="3" name="Text Placeholder 2"/>
          <p:cNvSpPr>
            <a:spLocks noGrp="1"/>
          </p:cNvSpPr>
          <p:nvPr>
            <p:ph type="body" idx="1"/>
          </p:nvPr>
        </p:nvSpPr>
        <p:spPr>
          <a:xfrm>
            <a:off x="690716" y="720095"/>
            <a:ext cx="10515600" cy="521208"/>
          </a:xfrm>
        </p:spPr>
        <p:txBody>
          <a:bodyPr>
            <a:normAutofit/>
          </a:bodyPr>
          <a:lstStyle/>
          <a:p>
            <a:r>
              <a:rPr lang="en-IN" sz="1600" dirty="0">
                <a:latin typeface="Times New Roman" panose="02020603050405020304" pitchFamily="18" charset="0"/>
                <a:cs typeface="Times New Roman" panose="02020603050405020304" pitchFamily="18" charset="0"/>
              </a:rPr>
              <a:t>Link -  </a:t>
            </a:r>
            <a:r>
              <a:rPr lang="en-IN" sz="1600" dirty="0">
                <a:latin typeface="Times New Roman" panose="02020603050405020304" pitchFamily="18" charset="0"/>
                <a:cs typeface="Times New Roman" panose="02020603050405020304" pitchFamily="18" charset="0"/>
                <a:hlinkClick r:id="rId2"/>
              </a:rPr>
              <a:t>https://www.magicbricks.com/property-for-sale/residential-real-estate?</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AB9C3FA-7782-0962-CFBF-C51664B706F0}"/>
              </a:ext>
            </a:extLst>
          </p:cNvPr>
          <p:cNvPicPr>
            <a:picLocks noChangeAspect="1"/>
          </p:cNvPicPr>
          <p:nvPr/>
        </p:nvPicPr>
        <p:blipFill>
          <a:blip r:embed="rId3"/>
          <a:stretch>
            <a:fillRect/>
          </a:stretch>
        </p:blipFill>
        <p:spPr>
          <a:xfrm>
            <a:off x="167150" y="1193302"/>
            <a:ext cx="6204154" cy="5581124"/>
          </a:xfrm>
          <a:prstGeom prst="rect">
            <a:avLst/>
          </a:prstGeom>
        </p:spPr>
      </p:pic>
      <p:pic>
        <p:nvPicPr>
          <p:cNvPr id="8" name="Picture 7">
            <a:extLst>
              <a:ext uri="{FF2B5EF4-FFF2-40B4-BE49-F238E27FC236}">
                <a16:creationId xmlns:a16="http://schemas.microsoft.com/office/drawing/2014/main" id="{9A54DD13-51A0-EBC1-A69E-C17F979498C1}"/>
              </a:ext>
            </a:extLst>
          </p:cNvPr>
          <p:cNvPicPr>
            <a:picLocks noChangeAspect="1"/>
          </p:cNvPicPr>
          <p:nvPr/>
        </p:nvPicPr>
        <p:blipFill>
          <a:blip r:embed="rId4"/>
          <a:stretch>
            <a:fillRect/>
          </a:stretch>
        </p:blipFill>
        <p:spPr>
          <a:xfrm>
            <a:off x="6459795" y="1193302"/>
            <a:ext cx="5663380" cy="5581124"/>
          </a:xfrm>
          <a:prstGeom prst="rect">
            <a:avLst/>
          </a:prstGeom>
        </p:spPr>
      </p:pic>
    </p:spTree>
    <p:extLst>
      <p:ext uri="{BB962C8B-B14F-4D97-AF65-F5344CB8AC3E}">
        <p14:creationId xmlns:p14="http://schemas.microsoft.com/office/powerpoint/2010/main" val="446927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632" y="108291"/>
            <a:ext cx="7466814" cy="540637"/>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Extracting data from webpage</a:t>
            </a:r>
          </a:p>
        </p:txBody>
      </p:sp>
      <p:pic>
        <p:nvPicPr>
          <p:cNvPr id="15" name="Picture 14">
            <a:extLst>
              <a:ext uri="{FF2B5EF4-FFF2-40B4-BE49-F238E27FC236}">
                <a16:creationId xmlns:a16="http://schemas.microsoft.com/office/drawing/2014/main" id="{1CB92D8E-41E0-1951-AB60-62D00030D013}"/>
              </a:ext>
            </a:extLst>
          </p:cNvPr>
          <p:cNvPicPr>
            <a:picLocks noChangeAspect="1"/>
          </p:cNvPicPr>
          <p:nvPr/>
        </p:nvPicPr>
        <p:blipFill>
          <a:blip r:embed="rId2"/>
          <a:stretch>
            <a:fillRect/>
          </a:stretch>
        </p:blipFill>
        <p:spPr>
          <a:xfrm>
            <a:off x="88490" y="815855"/>
            <a:ext cx="5873804" cy="2703871"/>
          </a:xfrm>
          <a:prstGeom prst="rect">
            <a:avLst/>
          </a:prstGeom>
        </p:spPr>
      </p:pic>
      <p:pic>
        <p:nvPicPr>
          <p:cNvPr id="17" name="Picture 16">
            <a:extLst>
              <a:ext uri="{FF2B5EF4-FFF2-40B4-BE49-F238E27FC236}">
                <a16:creationId xmlns:a16="http://schemas.microsoft.com/office/drawing/2014/main" id="{958B3113-4B85-1F69-40A6-B4AF7D5C71BE}"/>
              </a:ext>
            </a:extLst>
          </p:cNvPr>
          <p:cNvPicPr>
            <a:picLocks noChangeAspect="1"/>
          </p:cNvPicPr>
          <p:nvPr/>
        </p:nvPicPr>
        <p:blipFill>
          <a:blip r:embed="rId3"/>
          <a:stretch>
            <a:fillRect/>
          </a:stretch>
        </p:blipFill>
        <p:spPr>
          <a:xfrm>
            <a:off x="294967" y="3519726"/>
            <a:ext cx="4965291" cy="2878617"/>
          </a:xfrm>
          <a:prstGeom prst="rect">
            <a:avLst/>
          </a:prstGeom>
        </p:spPr>
      </p:pic>
      <p:pic>
        <p:nvPicPr>
          <p:cNvPr id="19" name="Picture 18">
            <a:extLst>
              <a:ext uri="{FF2B5EF4-FFF2-40B4-BE49-F238E27FC236}">
                <a16:creationId xmlns:a16="http://schemas.microsoft.com/office/drawing/2014/main" id="{BCE1218D-65B7-FB82-752F-3788B99A43BD}"/>
              </a:ext>
            </a:extLst>
          </p:cNvPr>
          <p:cNvPicPr>
            <a:picLocks noChangeAspect="1"/>
          </p:cNvPicPr>
          <p:nvPr/>
        </p:nvPicPr>
        <p:blipFill>
          <a:blip r:embed="rId4"/>
          <a:stretch>
            <a:fillRect/>
          </a:stretch>
        </p:blipFill>
        <p:spPr>
          <a:xfrm>
            <a:off x="6096000" y="815855"/>
            <a:ext cx="6007509" cy="2703871"/>
          </a:xfrm>
          <a:prstGeom prst="rect">
            <a:avLst/>
          </a:prstGeom>
        </p:spPr>
      </p:pic>
      <p:pic>
        <p:nvPicPr>
          <p:cNvPr id="21" name="Picture 20">
            <a:extLst>
              <a:ext uri="{FF2B5EF4-FFF2-40B4-BE49-F238E27FC236}">
                <a16:creationId xmlns:a16="http://schemas.microsoft.com/office/drawing/2014/main" id="{1762977E-6748-26EB-922A-717B2B11072D}"/>
              </a:ext>
            </a:extLst>
          </p:cNvPr>
          <p:cNvPicPr>
            <a:picLocks noChangeAspect="1"/>
          </p:cNvPicPr>
          <p:nvPr/>
        </p:nvPicPr>
        <p:blipFill>
          <a:blip r:embed="rId5"/>
          <a:stretch>
            <a:fillRect/>
          </a:stretch>
        </p:blipFill>
        <p:spPr>
          <a:xfrm>
            <a:off x="5329134" y="3595927"/>
            <a:ext cx="6774375" cy="2703871"/>
          </a:xfrm>
          <a:prstGeom prst="rect">
            <a:avLst/>
          </a:prstGeom>
        </p:spPr>
      </p:pic>
    </p:spTree>
    <p:extLst>
      <p:ext uri="{BB962C8B-B14F-4D97-AF65-F5344CB8AC3E}">
        <p14:creationId xmlns:p14="http://schemas.microsoft.com/office/powerpoint/2010/main" val="418135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9288" y="200533"/>
            <a:ext cx="4501896" cy="64985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Data set Overview</a:t>
            </a:r>
          </a:p>
        </p:txBody>
      </p:sp>
      <p:sp>
        <p:nvSpPr>
          <p:cNvPr id="3" name="Text Placeholder 2"/>
          <p:cNvSpPr>
            <a:spLocks noGrp="1"/>
          </p:cNvSpPr>
          <p:nvPr>
            <p:ph type="body" idx="1"/>
          </p:nvPr>
        </p:nvSpPr>
        <p:spPr>
          <a:xfrm>
            <a:off x="838200" y="1214382"/>
            <a:ext cx="10515600" cy="5198555"/>
          </a:xfrm>
        </p:spPr>
        <p:txBody>
          <a:bodyPr>
            <a:noAutofit/>
          </a:bodyPr>
          <a:lstStyle/>
          <a:p>
            <a:pPr marL="355600">
              <a:lnSpc>
                <a:spcPct val="150000"/>
              </a:lnSpc>
              <a:spcBef>
                <a:spcPts val="105"/>
              </a:spcBef>
              <a:buFont typeface="Wingdings" panose="05000000000000000000" pitchFamily="2" charset="2"/>
              <a:buChar char="Ø"/>
              <a:tabLst>
                <a:tab pos="183515" algn="l"/>
                <a:tab pos="6834505" algn="l"/>
              </a:tabLst>
            </a:pPr>
            <a:r>
              <a:rPr lang="en-IN" sz="2400" dirty="0">
                <a:latin typeface="Times New Roman" panose="02020603050405020304" pitchFamily="18" charset="0"/>
                <a:cs typeface="Times New Roman" panose="02020603050405020304" pitchFamily="18" charset="0"/>
              </a:rPr>
              <a:t>The</a:t>
            </a:r>
            <a:r>
              <a:rPr lang="en-IN" sz="2400" spc="-1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dataset</a:t>
            </a:r>
            <a:r>
              <a:rPr lang="en-IN" sz="2400" spc="-35"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contains</a:t>
            </a:r>
            <a:r>
              <a:rPr lang="en-IN" sz="2400" spc="-45"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~1500 Records and</a:t>
            </a:r>
            <a:r>
              <a:rPr lang="en-IN" sz="2400" spc="-20" dirty="0">
                <a:latin typeface="Times New Roman" panose="02020603050405020304" pitchFamily="18" charset="0"/>
                <a:cs typeface="Times New Roman" panose="02020603050405020304" pitchFamily="18" charset="0"/>
              </a:rPr>
              <a:t> 9 </a:t>
            </a:r>
            <a:r>
              <a:rPr lang="en-IN" sz="2400" dirty="0">
                <a:latin typeface="Times New Roman" panose="02020603050405020304" pitchFamily="18" charset="0"/>
                <a:cs typeface="Times New Roman" panose="02020603050405020304" pitchFamily="18" charset="0"/>
              </a:rPr>
              <a:t>columns</a:t>
            </a:r>
            <a:r>
              <a:rPr lang="en-IN" sz="2400" spc="-25"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which</a:t>
            </a:r>
            <a:r>
              <a:rPr lang="en-IN" sz="2400" spc="-20" dirty="0">
                <a:latin typeface="Times New Roman" panose="02020603050405020304" pitchFamily="18" charset="0"/>
                <a:cs typeface="Times New Roman" panose="02020603050405020304" pitchFamily="18" charset="0"/>
              </a:rPr>
              <a:t> </a:t>
            </a:r>
            <a:r>
              <a:rPr lang="en-IN" sz="2400" spc="-10" dirty="0">
                <a:latin typeface="Times New Roman" panose="02020603050405020304" pitchFamily="18" charset="0"/>
                <a:cs typeface="Times New Roman" panose="02020603050405020304" pitchFamily="18" charset="0"/>
              </a:rPr>
              <a:t>contains</a:t>
            </a:r>
            <a:r>
              <a:rPr lang="en-IN" sz="2400" dirty="0">
                <a:latin typeface="Times New Roman" panose="02020603050405020304" pitchFamily="18" charset="0"/>
                <a:cs typeface="Times New Roman" panose="02020603050405020304" pitchFamily="18" charset="0"/>
              </a:rPr>
              <a:t> information</a:t>
            </a:r>
            <a:r>
              <a:rPr lang="en-IN" sz="2400" spc="-6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about</a:t>
            </a:r>
            <a:r>
              <a:rPr lang="en-IN" sz="2400" spc="-40" dirty="0">
                <a:latin typeface="Times New Roman" panose="02020603050405020304" pitchFamily="18" charset="0"/>
                <a:cs typeface="Times New Roman" panose="02020603050405020304" pitchFamily="18" charset="0"/>
              </a:rPr>
              <a:t> Real Estate</a:t>
            </a:r>
            <a:r>
              <a:rPr lang="en-IN" sz="2400" spc="-10" dirty="0">
                <a:latin typeface="Times New Roman" panose="02020603050405020304" pitchFamily="18" charset="0"/>
                <a:cs typeface="Times New Roman" panose="02020603050405020304" pitchFamily="18" charset="0"/>
              </a:rPr>
              <a:t>.</a:t>
            </a:r>
          </a:p>
          <a:p>
            <a:pPr marL="12700" indent="0">
              <a:lnSpc>
                <a:spcPct val="150000"/>
              </a:lnSpc>
              <a:spcBef>
                <a:spcPts val="105"/>
              </a:spcBef>
              <a:buNone/>
              <a:tabLst>
                <a:tab pos="183515" algn="l"/>
                <a:tab pos="6834505" algn="l"/>
              </a:tabLst>
            </a:pPr>
            <a:endParaRPr lang="en-IN" sz="2400" b="1" spc="-10" dirty="0">
              <a:latin typeface="Times New Roman" panose="02020603050405020304" pitchFamily="18" charset="0"/>
              <a:cs typeface="Times New Roman" panose="02020603050405020304" pitchFamily="18" charset="0"/>
            </a:endParaRPr>
          </a:p>
          <a:p>
            <a:pPr marL="355600">
              <a:lnSpc>
                <a:spcPct val="150000"/>
              </a:lnSpc>
              <a:spcBef>
                <a:spcPts val="105"/>
              </a:spcBef>
              <a:buFont typeface="Wingdings" panose="05000000000000000000" pitchFamily="2" charset="2"/>
              <a:buChar char="Ø"/>
              <a:tabLst>
                <a:tab pos="183515" algn="l"/>
                <a:tab pos="6834505" algn="l"/>
              </a:tabLst>
            </a:pPr>
            <a:r>
              <a:rPr lang="en-US" sz="2400" b="1" dirty="0">
                <a:latin typeface="Times New Roman" panose="02020603050405020304" pitchFamily="18" charset="0"/>
                <a:cs typeface="Times New Roman" panose="02020603050405020304" pitchFamily="18" charset="0"/>
              </a:rPr>
              <a:t>Data Types:</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Categorical Data: platform, tile, location, builder, </a:t>
            </a:r>
            <a:r>
              <a:rPr lang="en-US" dirty="0" err="1">
                <a:latin typeface="Times New Roman" panose="02020603050405020304" pitchFamily="18" charset="0"/>
                <a:cs typeface="Times New Roman" panose="02020603050405020304" pitchFamily="18" charset="0"/>
              </a:rPr>
              <a:t>property_type</a:t>
            </a:r>
            <a:r>
              <a:rPr lang="en-US" dirty="0">
                <a:latin typeface="Times New Roman" panose="02020603050405020304" pitchFamily="18" charset="0"/>
                <a:cs typeface="Times New Roman" panose="02020603050405020304" pitchFamily="18" charset="0"/>
              </a:rPr>
              <a:t>, city</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Numerical Data: price, </a:t>
            </a:r>
            <a:r>
              <a:rPr lang="en-US" dirty="0" err="1">
                <a:latin typeface="Times New Roman" panose="02020603050405020304" pitchFamily="18" charset="0"/>
                <a:cs typeface="Times New Roman" panose="02020603050405020304" pitchFamily="18" charset="0"/>
              </a:rPr>
              <a:t>area_sqft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scrape_date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368389"/>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8E6BDD0-4651-F38B-CF20-52F46887F33A}"/>
              </a:ext>
            </a:extLst>
          </p:cNvPr>
          <p:cNvPicPr>
            <a:picLocks noChangeAspect="1"/>
          </p:cNvPicPr>
          <p:nvPr/>
        </p:nvPicPr>
        <p:blipFill>
          <a:blip r:embed="rId3"/>
          <a:stretch>
            <a:fillRect/>
          </a:stretch>
        </p:blipFill>
        <p:spPr>
          <a:xfrm>
            <a:off x="129799" y="125068"/>
            <a:ext cx="5405761" cy="3303932"/>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36118FC9-0DF3-806C-972B-BB23F76E483B}"/>
              </a:ext>
            </a:extLst>
          </p:cNvPr>
          <p:cNvPicPr>
            <a:picLocks noChangeAspect="1"/>
          </p:cNvPicPr>
          <p:nvPr/>
        </p:nvPicPr>
        <p:blipFill>
          <a:blip r:embed="rId4"/>
          <a:stretch>
            <a:fillRect/>
          </a:stretch>
        </p:blipFill>
        <p:spPr>
          <a:xfrm>
            <a:off x="129800" y="3558535"/>
            <a:ext cx="5405760" cy="3174397"/>
          </a:xfrm>
          <a:prstGeom prst="rect">
            <a:avLst/>
          </a:prstGeom>
          <a:ln>
            <a:noFill/>
          </a:ln>
          <a:effectLst>
            <a:outerShdw blurRad="190500" algn="tl" rotWithShape="0">
              <a:srgbClr val="000000">
                <a:alpha val="70000"/>
              </a:srgbClr>
            </a:outerShdw>
          </a:effectLst>
        </p:spPr>
      </p:pic>
      <p:pic>
        <p:nvPicPr>
          <p:cNvPr id="22" name="Picture 21">
            <a:extLst>
              <a:ext uri="{FF2B5EF4-FFF2-40B4-BE49-F238E27FC236}">
                <a16:creationId xmlns:a16="http://schemas.microsoft.com/office/drawing/2014/main" id="{604D028C-5178-57DB-D30F-10FB8070EB79}"/>
              </a:ext>
            </a:extLst>
          </p:cNvPr>
          <p:cNvPicPr>
            <a:picLocks noChangeAspect="1"/>
          </p:cNvPicPr>
          <p:nvPr/>
        </p:nvPicPr>
        <p:blipFill>
          <a:blip r:embed="rId5"/>
          <a:stretch>
            <a:fillRect/>
          </a:stretch>
        </p:blipFill>
        <p:spPr>
          <a:xfrm>
            <a:off x="5801032" y="125068"/>
            <a:ext cx="6261168" cy="2627964"/>
          </a:xfrm>
          <a:prstGeom prst="rect">
            <a:avLst/>
          </a:prstGeom>
          <a:ln>
            <a:noFill/>
          </a:ln>
          <a:effectLst>
            <a:outerShdw blurRad="190500" algn="tl" rotWithShape="0">
              <a:srgbClr val="000000">
                <a:alpha val="70000"/>
              </a:srgbClr>
            </a:outerShdw>
          </a:effectLst>
        </p:spPr>
      </p:pic>
      <p:pic>
        <p:nvPicPr>
          <p:cNvPr id="24" name="Picture 23">
            <a:extLst>
              <a:ext uri="{FF2B5EF4-FFF2-40B4-BE49-F238E27FC236}">
                <a16:creationId xmlns:a16="http://schemas.microsoft.com/office/drawing/2014/main" id="{17D7DA2C-0934-F419-8E74-21FC94DBECB3}"/>
              </a:ext>
            </a:extLst>
          </p:cNvPr>
          <p:cNvPicPr>
            <a:picLocks noChangeAspect="1"/>
          </p:cNvPicPr>
          <p:nvPr/>
        </p:nvPicPr>
        <p:blipFill>
          <a:blip r:embed="rId6"/>
          <a:stretch>
            <a:fillRect/>
          </a:stretch>
        </p:blipFill>
        <p:spPr>
          <a:xfrm>
            <a:off x="5801032" y="2921932"/>
            <a:ext cx="6261168" cy="330393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3155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650" y="173102"/>
            <a:ext cx="3852672" cy="544654"/>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Basic Checks</a:t>
            </a:r>
          </a:p>
        </p:txBody>
      </p:sp>
      <p:pic>
        <p:nvPicPr>
          <p:cNvPr id="3" name="Picture 2">
            <a:extLst>
              <a:ext uri="{FF2B5EF4-FFF2-40B4-BE49-F238E27FC236}">
                <a16:creationId xmlns:a16="http://schemas.microsoft.com/office/drawing/2014/main" id="{E6C788FD-3059-978B-F3A6-6DE294B73D9C}"/>
              </a:ext>
            </a:extLst>
          </p:cNvPr>
          <p:cNvPicPr>
            <a:picLocks noChangeAspect="1"/>
          </p:cNvPicPr>
          <p:nvPr/>
        </p:nvPicPr>
        <p:blipFill>
          <a:blip r:embed="rId2"/>
          <a:stretch>
            <a:fillRect/>
          </a:stretch>
        </p:blipFill>
        <p:spPr>
          <a:xfrm>
            <a:off x="266650" y="3817115"/>
            <a:ext cx="4187363" cy="2867783"/>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F5C2488B-FD34-39D8-FB7B-3B30D989E5CF}"/>
              </a:ext>
            </a:extLst>
          </p:cNvPr>
          <p:cNvPicPr>
            <a:picLocks noChangeAspect="1"/>
          </p:cNvPicPr>
          <p:nvPr/>
        </p:nvPicPr>
        <p:blipFill>
          <a:blip r:embed="rId3"/>
          <a:stretch>
            <a:fillRect/>
          </a:stretch>
        </p:blipFill>
        <p:spPr>
          <a:xfrm>
            <a:off x="196646" y="924232"/>
            <a:ext cx="4257367" cy="2762864"/>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A166B5DB-EF89-4738-519C-F85558D7C311}"/>
              </a:ext>
            </a:extLst>
          </p:cNvPr>
          <p:cNvPicPr>
            <a:picLocks noChangeAspect="1"/>
          </p:cNvPicPr>
          <p:nvPr/>
        </p:nvPicPr>
        <p:blipFill>
          <a:blip r:embed="rId4"/>
          <a:stretch>
            <a:fillRect/>
          </a:stretch>
        </p:blipFill>
        <p:spPr>
          <a:xfrm>
            <a:off x="4653599" y="363794"/>
            <a:ext cx="2884801" cy="3323302"/>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67BB34D1-CF9B-F6D3-A313-F567EA30F52E}"/>
              </a:ext>
            </a:extLst>
          </p:cNvPr>
          <p:cNvPicPr>
            <a:picLocks noChangeAspect="1"/>
          </p:cNvPicPr>
          <p:nvPr/>
        </p:nvPicPr>
        <p:blipFill>
          <a:blip r:embed="rId5"/>
          <a:stretch>
            <a:fillRect/>
          </a:stretch>
        </p:blipFill>
        <p:spPr>
          <a:xfrm>
            <a:off x="7846142" y="363793"/>
            <a:ext cx="4079208" cy="3323301"/>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A3B38081-64BC-A31D-C582-51970EA94296}"/>
              </a:ext>
            </a:extLst>
          </p:cNvPr>
          <p:cNvPicPr>
            <a:picLocks noChangeAspect="1"/>
          </p:cNvPicPr>
          <p:nvPr/>
        </p:nvPicPr>
        <p:blipFill>
          <a:blip r:embed="rId6"/>
          <a:stretch>
            <a:fillRect/>
          </a:stretch>
        </p:blipFill>
        <p:spPr>
          <a:xfrm>
            <a:off x="4653599" y="3817115"/>
            <a:ext cx="7271751" cy="24072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33374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3256" y="227965"/>
            <a:ext cx="4241931" cy="715932"/>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marL="457200" indent="-342900"/>
            <a:r>
              <a:rPr lang="en-IN" sz="2800" dirty="0">
                <a:solidFill>
                  <a:schemeClr val="accent5">
                    <a:lumMod val="50000"/>
                  </a:schemeClr>
                </a:solidFill>
                <a:latin typeface="Arial Black" panose="020B0A04020102020204" pitchFamily="34" charset="0"/>
                <a:sym typeface="Arial"/>
              </a:rPr>
              <a:t>After Preprocessing</a:t>
            </a:r>
          </a:p>
        </p:txBody>
      </p:sp>
      <p:pic>
        <p:nvPicPr>
          <p:cNvPr id="9" name="Picture 8">
            <a:extLst>
              <a:ext uri="{FF2B5EF4-FFF2-40B4-BE49-F238E27FC236}">
                <a16:creationId xmlns:a16="http://schemas.microsoft.com/office/drawing/2014/main" id="{03FA53B1-947B-6D10-4283-37D494AA8572}"/>
              </a:ext>
            </a:extLst>
          </p:cNvPr>
          <p:cNvPicPr>
            <a:picLocks noChangeAspect="1"/>
          </p:cNvPicPr>
          <p:nvPr/>
        </p:nvPicPr>
        <p:blipFill>
          <a:blip r:embed="rId3"/>
          <a:stretch>
            <a:fillRect/>
          </a:stretch>
        </p:blipFill>
        <p:spPr>
          <a:xfrm>
            <a:off x="143256" y="1183656"/>
            <a:ext cx="2859272" cy="4823853"/>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97ECAA20-1A9B-14F5-3A5C-DB676203C143}"/>
              </a:ext>
            </a:extLst>
          </p:cNvPr>
          <p:cNvPicPr>
            <a:picLocks noChangeAspect="1"/>
          </p:cNvPicPr>
          <p:nvPr/>
        </p:nvPicPr>
        <p:blipFill>
          <a:blip r:embed="rId4"/>
          <a:stretch>
            <a:fillRect/>
          </a:stretch>
        </p:blipFill>
        <p:spPr>
          <a:xfrm>
            <a:off x="3175820" y="1183655"/>
            <a:ext cx="8780206" cy="48238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33008742"/>
      </p:ext>
    </p:extLst>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247" y="151372"/>
            <a:ext cx="7226611" cy="477893"/>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Data Analysis Using Visualizations</a:t>
            </a:r>
            <a:endParaRPr lang="en-IN" sz="2800" dirty="0">
              <a:solidFill>
                <a:schemeClr val="accent5">
                  <a:lumMod val="50000"/>
                </a:schemeClr>
              </a:solidFill>
              <a:latin typeface="Arial Black" panose="020B0A04020102020204" pitchFamily="34" charset="0"/>
            </a:endParaRPr>
          </a:p>
        </p:txBody>
      </p:sp>
      <p:pic>
        <p:nvPicPr>
          <p:cNvPr id="12" name="Picture 11">
            <a:extLst>
              <a:ext uri="{FF2B5EF4-FFF2-40B4-BE49-F238E27FC236}">
                <a16:creationId xmlns:a16="http://schemas.microsoft.com/office/drawing/2014/main" id="{E3DD4439-434E-19A3-20C5-3DCF0C2A039E}"/>
              </a:ext>
            </a:extLst>
          </p:cNvPr>
          <p:cNvPicPr>
            <a:picLocks noChangeAspect="1"/>
          </p:cNvPicPr>
          <p:nvPr/>
        </p:nvPicPr>
        <p:blipFill>
          <a:blip r:embed="rId2"/>
          <a:stretch>
            <a:fillRect/>
          </a:stretch>
        </p:blipFill>
        <p:spPr>
          <a:xfrm>
            <a:off x="301822" y="1459978"/>
            <a:ext cx="5625096" cy="3362631"/>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91CF8390-4E36-2348-1242-3D0153EDB305}"/>
              </a:ext>
            </a:extLst>
          </p:cNvPr>
          <p:cNvSpPr txBox="1"/>
          <p:nvPr/>
        </p:nvSpPr>
        <p:spPr>
          <a:xfrm>
            <a:off x="301822" y="5073446"/>
            <a:ext cx="5625096" cy="1200329"/>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Certain property types dominate the supply, indicating market preference patterns.</a:t>
            </a:r>
            <a:endParaRPr lang="en-IN"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4FB8524-915A-B922-D8A6-B7E2AC3CED06}"/>
              </a:ext>
            </a:extLst>
          </p:cNvPr>
          <p:cNvSpPr txBox="1"/>
          <p:nvPr/>
        </p:nvSpPr>
        <p:spPr>
          <a:xfrm>
            <a:off x="6096000" y="4989762"/>
            <a:ext cx="5963264" cy="1200329"/>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Listings are concentrated in specific locations, showing demand clustering in major residential zones.</a:t>
            </a:r>
            <a:endParaRPr lang="en-IN" sz="24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89DE7894-D987-4B49-992D-7CA14ED5EA65}"/>
              </a:ext>
            </a:extLst>
          </p:cNvPr>
          <p:cNvPicPr>
            <a:picLocks noChangeAspect="1"/>
          </p:cNvPicPr>
          <p:nvPr/>
        </p:nvPicPr>
        <p:blipFill>
          <a:blip r:embed="rId3"/>
          <a:stretch>
            <a:fillRect/>
          </a:stretch>
        </p:blipFill>
        <p:spPr>
          <a:xfrm>
            <a:off x="6096000" y="1041997"/>
            <a:ext cx="5963264" cy="3780612"/>
          </a:xfrm>
          <a:prstGeom prst="rect">
            <a:avLst/>
          </a:prstGeom>
          <a:ln>
            <a:noFill/>
          </a:ln>
          <a:effectLst>
            <a:outerShdw blurRad="292100" dist="139700" dir="2700000" algn="tl" rotWithShape="0">
              <a:srgbClr val="333333">
                <a:alpha val="65000"/>
              </a:srgbClr>
            </a:outerShdw>
          </a:effectLst>
        </p:spPr>
      </p:pic>
      <p:sp>
        <p:nvSpPr>
          <p:cNvPr id="17" name="TextBox 16">
            <a:extLst>
              <a:ext uri="{FF2B5EF4-FFF2-40B4-BE49-F238E27FC236}">
                <a16:creationId xmlns:a16="http://schemas.microsoft.com/office/drawing/2014/main" id="{7A9FB6B1-3B37-B310-1528-DDFF8B43F4F2}"/>
              </a:ext>
            </a:extLst>
          </p:cNvPr>
          <p:cNvSpPr txBox="1"/>
          <p:nvPr/>
        </p:nvSpPr>
        <p:spPr>
          <a:xfrm>
            <a:off x="167247" y="747477"/>
            <a:ext cx="47027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Univariate Analysis: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824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1F4444-8E0F-EE16-6049-1C088D1F34D4}"/>
              </a:ext>
            </a:extLst>
          </p:cNvPr>
          <p:cNvPicPr>
            <a:picLocks noChangeAspect="1"/>
          </p:cNvPicPr>
          <p:nvPr/>
        </p:nvPicPr>
        <p:blipFill>
          <a:blip r:embed="rId2"/>
          <a:stretch>
            <a:fillRect/>
          </a:stretch>
        </p:blipFill>
        <p:spPr>
          <a:xfrm>
            <a:off x="342832" y="221381"/>
            <a:ext cx="6343103" cy="430145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FFD6B53A-3E37-F192-2CCD-F74FFB5B530D}"/>
              </a:ext>
            </a:extLst>
          </p:cNvPr>
          <p:cNvSpPr txBox="1"/>
          <p:nvPr/>
        </p:nvSpPr>
        <p:spPr>
          <a:xfrm>
            <a:off x="342832" y="4697627"/>
            <a:ext cx="6500420" cy="1883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majority of listings fall into the Affordable, Mid-Range, and Premium categories, while Luxury properties form a smaller segment, indicating a market dominated by mid-income and upper-mid-income housing.</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EA4FA19-13EE-8CE7-A777-07B4A34BFE0F}"/>
              </a:ext>
            </a:extLst>
          </p:cNvPr>
          <p:cNvPicPr>
            <a:picLocks noChangeAspect="1"/>
          </p:cNvPicPr>
          <p:nvPr/>
        </p:nvPicPr>
        <p:blipFill>
          <a:blip r:embed="rId3"/>
          <a:stretch>
            <a:fillRect/>
          </a:stretch>
        </p:blipFill>
        <p:spPr>
          <a:xfrm>
            <a:off x="6913595" y="221381"/>
            <a:ext cx="5012700" cy="4301458"/>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10D3EC1A-7AF9-D0B8-01F2-25521095A5E5}"/>
              </a:ext>
            </a:extLst>
          </p:cNvPr>
          <p:cNvSpPr txBox="1"/>
          <p:nvPr/>
        </p:nvSpPr>
        <p:spPr>
          <a:xfrm>
            <a:off x="7000568" y="4697627"/>
            <a:ext cx="4848600" cy="142199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Most properties have moderate built-up area, showing standard residential configurations dominate the market.</a:t>
            </a:r>
          </a:p>
        </p:txBody>
      </p:sp>
    </p:spTree>
    <p:extLst>
      <p:ext uri="{BB962C8B-B14F-4D97-AF65-F5344CB8AC3E}">
        <p14:creationId xmlns:p14="http://schemas.microsoft.com/office/powerpoint/2010/main" val="2469965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7FF6DB0-A037-4CB2-8FA0-544B5F454434}"/>
              </a:ext>
            </a:extLst>
          </p:cNvPr>
          <p:cNvSpPr txBox="1"/>
          <p:nvPr/>
        </p:nvSpPr>
        <p:spPr>
          <a:xfrm>
            <a:off x="193040" y="162560"/>
            <a:ext cx="33324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Bivariate Analysis:</a:t>
            </a:r>
            <a:endParaRPr lang="en-IN"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46EF2EE-AB81-6591-F75D-A03F9052AEA3}"/>
              </a:ext>
            </a:extLst>
          </p:cNvPr>
          <p:cNvPicPr>
            <a:picLocks noChangeAspect="1"/>
          </p:cNvPicPr>
          <p:nvPr/>
        </p:nvPicPr>
        <p:blipFill>
          <a:blip r:embed="rId2"/>
          <a:stretch>
            <a:fillRect/>
          </a:stretch>
        </p:blipFill>
        <p:spPr>
          <a:xfrm>
            <a:off x="416560" y="796945"/>
            <a:ext cx="5882640" cy="3921760"/>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B99E5832-96D5-94C9-5701-E7D449605E1D}"/>
              </a:ext>
            </a:extLst>
          </p:cNvPr>
          <p:cNvSpPr txBox="1"/>
          <p:nvPr/>
        </p:nvSpPr>
        <p:spPr>
          <a:xfrm>
            <a:off x="416560" y="4978400"/>
            <a:ext cx="5801360" cy="142199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There is a positive relationship between area and price as area increases, property price generally increases.</a:t>
            </a:r>
            <a:endParaRPr lang="en-IN"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2AD72C2-AC83-56D1-4C7A-996E0682FFFF}"/>
              </a:ext>
            </a:extLst>
          </p:cNvPr>
          <p:cNvPicPr>
            <a:picLocks noChangeAspect="1"/>
          </p:cNvPicPr>
          <p:nvPr/>
        </p:nvPicPr>
        <p:blipFill>
          <a:blip r:embed="rId3"/>
          <a:stretch>
            <a:fillRect/>
          </a:stretch>
        </p:blipFill>
        <p:spPr>
          <a:xfrm>
            <a:off x="6495540" y="796946"/>
            <a:ext cx="5594860" cy="3921760"/>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445D85F4-F72A-314B-91FE-AB9C88EDE5A0}"/>
              </a:ext>
            </a:extLst>
          </p:cNvPr>
          <p:cNvSpPr txBox="1"/>
          <p:nvPr/>
        </p:nvSpPr>
        <p:spPr>
          <a:xfrm>
            <a:off x="6573520" y="4978400"/>
            <a:ext cx="5445760" cy="96032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 price-per-</a:t>
            </a:r>
            <a:r>
              <a:rPr lang="en-US" sz="2000" dirty="0" err="1">
                <a:latin typeface="Times New Roman" panose="02020603050405020304" pitchFamily="18" charset="0"/>
                <a:cs typeface="Times New Roman" panose="02020603050405020304" pitchFamily="18" charset="0"/>
              </a:rPr>
              <a:t>sqft</a:t>
            </a:r>
            <a:r>
              <a:rPr lang="en-US" sz="2000" dirty="0">
                <a:latin typeface="Times New Roman" panose="02020603050405020304" pitchFamily="18" charset="0"/>
                <a:cs typeface="Times New Roman" panose="02020603050405020304" pitchFamily="18" charset="0"/>
              </a:rPr>
              <a:t> locations represent premium urban zones and high-demand residential areas.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802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8EC34A-8298-162C-F88C-7B2EF01ADE5D}"/>
              </a:ext>
            </a:extLst>
          </p:cNvPr>
          <p:cNvPicPr>
            <a:picLocks noChangeAspect="1"/>
          </p:cNvPicPr>
          <p:nvPr/>
        </p:nvPicPr>
        <p:blipFill>
          <a:blip r:embed="rId2"/>
          <a:stretch>
            <a:fillRect/>
          </a:stretch>
        </p:blipFill>
        <p:spPr>
          <a:xfrm>
            <a:off x="229367" y="286927"/>
            <a:ext cx="4769353" cy="434603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3FAEFE24-0FD2-DFDE-3B3D-57376845CF36}"/>
              </a:ext>
            </a:extLst>
          </p:cNvPr>
          <p:cNvPicPr>
            <a:picLocks noChangeAspect="1"/>
          </p:cNvPicPr>
          <p:nvPr/>
        </p:nvPicPr>
        <p:blipFill>
          <a:blip r:embed="rId3"/>
          <a:stretch>
            <a:fillRect/>
          </a:stretch>
        </p:blipFill>
        <p:spPr>
          <a:xfrm>
            <a:off x="5100320" y="286928"/>
            <a:ext cx="6990080" cy="4346032"/>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98440C0B-849F-82C0-34DF-3C7C704E9ACD}"/>
              </a:ext>
            </a:extLst>
          </p:cNvPr>
          <p:cNvSpPr txBox="1"/>
          <p:nvPr/>
        </p:nvSpPr>
        <p:spPr>
          <a:xfrm>
            <a:off x="229366" y="4876800"/>
            <a:ext cx="4769353" cy="1015663"/>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Different property types show clear price variation, reflecting value differentiation by property category.</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A33F10B-64DC-64F2-BCA8-03E26CBCCE40}"/>
              </a:ext>
            </a:extLst>
          </p:cNvPr>
          <p:cNvSpPr txBox="1"/>
          <p:nvPr/>
        </p:nvSpPr>
        <p:spPr>
          <a:xfrm>
            <a:off x="5262880" y="4876800"/>
            <a:ext cx="6699754" cy="707886"/>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Certain locations command higher average prices, indicating premium residential zones.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278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6408" y="5058530"/>
            <a:ext cx="3084576" cy="1102043"/>
          </a:xfrm>
        </p:spPr>
        <p:txBody>
          <a:bodyPr/>
          <a:lstStyle/>
          <a:p>
            <a:endParaRPr lang="en-US" dirty="0"/>
          </a:p>
          <a:p>
            <a:endParaRPr lang="en-IN" dirty="0"/>
          </a:p>
        </p:txBody>
      </p:sp>
      <p:sp>
        <p:nvSpPr>
          <p:cNvPr id="7" name="TextBox 6">
            <a:extLst>
              <a:ext uri="{FF2B5EF4-FFF2-40B4-BE49-F238E27FC236}">
                <a16:creationId xmlns:a16="http://schemas.microsoft.com/office/drawing/2014/main" id="{DF51A223-2C68-A74B-4B18-0D21A495EEAC}"/>
              </a:ext>
            </a:extLst>
          </p:cNvPr>
          <p:cNvSpPr txBox="1"/>
          <p:nvPr/>
        </p:nvSpPr>
        <p:spPr>
          <a:xfrm>
            <a:off x="216408" y="121920"/>
            <a:ext cx="506984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Multivariate Analysis:</a:t>
            </a:r>
            <a:endParaRPr lang="en-I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E9F50FF-CC40-A796-6CC4-1BA3137F6CC0}"/>
              </a:ext>
            </a:extLst>
          </p:cNvPr>
          <p:cNvPicPr>
            <a:picLocks noChangeAspect="1"/>
          </p:cNvPicPr>
          <p:nvPr/>
        </p:nvPicPr>
        <p:blipFill>
          <a:blip r:embed="rId2"/>
          <a:stretch>
            <a:fillRect/>
          </a:stretch>
        </p:blipFill>
        <p:spPr>
          <a:xfrm>
            <a:off x="396239" y="807950"/>
            <a:ext cx="5252721" cy="5105170"/>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FB731E4D-7D37-EA3E-CA2F-382E582428EA}"/>
              </a:ext>
            </a:extLst>
          </p:cNvPr>
          <p:cNvSpPr txBox="1"/>
          <p:nvPr/>
        </p:nvSpPr>
        <p:spPr>
          <a:xfrm>
            <a:off x="5828791" y="965200"/>
            <a:ext cx="5831841"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heatmap shows that price strongly depends on area, while price per square foot is largely independent of size, indicating that location and demand play a more important role in determining unit pricing.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550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720" y="283977"/>
            <a:ext cx="4241800" cy="428886"/>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fontScale="90000"/>
          </a:bodyPr>
          <a:lstStyle/>
          <a:p>
            <a:r>
              <a:rPr lang="en-US" sz="2800" dirty="0">
                <a:solidFill>
                  <a:schemeClr val="accent5">
                    <a:lumMod val="50000"/>
                  </a:schemeClr>
                </a:solidFill>
                <a:latin typeface="Arial Black" panose="020B0A04020102020204" pitchFamily="34" charset="0"/>
              </a:rPr>
              <a:t>Conclusion</a:t>
            </a:r>
            <a:endParaRPr lang="en-IN" sz="2800" dirty="0">
              <a:solidFill>
                <a:schemeClr val="accent5">
                  <a:lumMod val="50000"/>
                </a:schemeClr>
              </a:solidFill>
              <a:latin typeface="Arial Black" panose="020B0A04020102020204" pitchFamily="34" charset="0"/>
            </a:endParaRPr>
          </a:p>
        </p:txBody>
      </p:sp>
      <p:sp>
        <p:nvSpPr>
          <p:cNvPr id="5" name="Rectangle 2">
            <a:extLst>
              <a:ext uri="{FF2B5EF4-FFF2-40B4-BE49-F238E27FC236}">
                <a16:creationId xmlns:a16="http://schemas.microsoft.com/office/drawing/2014/main" id="{D8D1A5AD-6F9B-5D4C-AAAB-94C9A1371850}"/>
              </a:ext>
            </a:extLst>
          </p:cNvPr>
          <p:cNvSpPr>
            <a:spLocks noGrp="1" noChangeArrowheads="1"/>
          </p:cNvSpPr>
          <p:nvPr>
            <p:ph type="body" idx="1"/>
          </p:nvPr>
        </p:nvSpPr>
        <p:spPr bwMode="auto">
          <a:xfrm>
            <a:off x="793757" y="989438"/>
            <a:ext cx="11065749"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algn="just" eaLnBrk="0" fontAlgn="base" hangingPunct="0">
              <a:lnSpc>
                <a:spcPct val="150000"/>
              </a:lnSpc>
              <a:spcBef>
                <a:spcPct val="0"/>
              </a:spcBef>
              <a:spcAft>
                <a:spcPct val="0"/>
              </a:spcAft>
              <a:buClrTx/>
              <a:buSzTx/>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project successfully demonstrates the use of web scraping to collect real estate data and convert unstructured web information into a structured dataset. The data was cleaned, processed, and analyzed using Python-based exploratory data analysis techniques. Key market trends, pricing patterns, and location-based insights were identified through visual analysis. Overall, the project highlights the practical application of data analytics concepts in an academic context.</a:t>
            </a:r>
          </a:p>
          <a:p>
            <a:pPr marL="342900" lvl="0" algn="just" eaLnBrk="0" fontAlgn="base" hangingPunct="0">
              <a:lnSpc>
                <a:spcPct val="150000"/>
              </a:lnSpc>
              <a:spcBef>
                <a:spcPct val="0"/>
              </a:spcBef>
              <a:spcAft>
                <a:spcPct val="0"/>
              </a:spcAft>
              <a:buClrTx/>
              <a:buSzTx/>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None/>
            </a:pPr>
            <a:endParaRPr lang="en-US" sz="1800" dirty="0">
              <a:latin typeface="Times New Roman" panose="02020603050405020304" pitchFamily="18" charset="0"/>
              <a:cs typeface="Times New Roman" panose="02020603050405020304" pitchFamily="18" charset="0"/>
            </a:endParaRPr>
          </a:p>
          <a:p>
            <a:pPr marL="342900" lvl="0" algn="just" eaLnBrk="0" fontAlgn="base" hangingPunct="0">
              <a:lnSpc>
                <a:spcPct val="150000"/>
              </a:lnSpc>
              <a:spcBef>
                <a:spcPct val="0"/>
              </a:spcBef>
              <a:spcAft>
                <a:spcPct val="0"/>
              </a:spcAft>
              <a:buClrTx/>
              <a:buSzTx/>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project can be extended by collecting data from multiple real estate platforms to improve coverage and accuracy. Integration with databases and automated data pipelines can enable continuous data updates. Advanced analytics techniques such as predictive modeling and AI-based price prediction can be implemented. In the future, this system can evolve into a complete real estate intelligence and recommendation platform.</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3FB3C2E5-7E6C-4CFB-14CA-1A8875142999}"/>
              </a:ext>
            </a:extLst>
          </p:cNvPr>
          <p:cNvSpPr txBox="1">
            <a:spLocks/>
          </p:cNvSpPr>
          <p:nvPr/>
        </p:nvSpPr>
        <p:spPr>
          <a:xfrm>
            <a:off x="553720" y="3320845"/>
            <a:ext cx="4241800" cy="428886"/>
          </a:xfrm>
          <a:prstGeom prst="rect">
            <a:avLst/>
          </a:prstGeo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chemeClr val="accent5">
                    <a:lumMod val="50000"/>
                  </a:schemeClr>
                </a:solidFill>
                <a:latin typeface="Arial Black" panose="020B0A04020102020204" pitchFamily="34" charset="0"/>
              </a:rPr>
              <a:t>Future Scope</a:t>
            </a:r>
            <a:endParaRPr lang="en-IN" sz="2400" dirty="0">
              <a:solidFill>
                <a:schemeClr val="accent5">
                  <a:lumMod val="50000"/>
                </a:schemeClr>
              </a:solidFill>
              <a:latin typeface="Arial Black" panose="020B0A04020102020204" pitchFamily="34" charset="0"/>
            </a:endParaRPr>
          </a:p>
        </p:txBody>
      </p:sp>
    </p:spTree>
    <p:extLst>
      <p:ext uri="{BB962C8B-B14F-4D97-AF65-F5344CB8AC3E}">
        <p14:creationId xmlns:p14="http://schemas.microsoft.com/office/powerpoint/2010/main" val="866556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136445" y="2877131"/>
            <a:ext cx="3661836" cy="134090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2490</TotalTime>
  <Words>520</Words>
  <Application>Microsoft Office PowerPoint</Application>
  <PresentationFormat>Widescreen</PresentationFormat>
  <Paragraphs>54</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Libre Baskerville</vt:lpstr>
      <vt:lpstr>Calibri</vt:lpstr>
      <vt:lpstr>Times New Roman</vt:lpstr>
      <vt:lpstr>Wingdings</vt:lpstr>
      <vt:lpstr>Arial Black</vt:lpstr>
      <vt:lpstr>Office Theme</vt:lpstr>
      <vt:lpstr>PowerPoint Presentation</vt:lpstr>
      <vt:lpstr>What is Web Scraping ? How it works ?</vt:lpstr>
      <vt:lpstr>Objective</vt:lpstr>
      <vt:lpstr>Website</vt:lpstr>
      <vt:lpstr>Extracting data from webpage</vt:lpstr>
      <vt:lpstr>Data set Overview</vt:lpstr>
      <vt:lpstr>PowerPoint Presentation</vt:lpstr>
      <vt:lpstr>Basic Checks</vt:lpstr>
      <vt:lpstr>After Preprocessing</vt:lpstr>
      <vt:lpstr>Data Analysis Using Visualizations</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Tippaluri Srinu</cp:lastModifiedBy>
  <cp:revision>35</cp:revision>
  <dcterms:created xsi:type="dcterms:W3CDTF">2021-02-16T05:19:01Z</dcterms:created>
  <dcterms:modified xsi:type="dcterms:W3CDTF">2026-02-03T11:36:13Z</dcterms:modified>
</cp:coreProperties>
</file>